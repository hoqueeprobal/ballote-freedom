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Bold" charset="1" panose="02000000000000000000"/>
      <p:regular r:id="rId18"/>
    </p:embeddedFont>
    <p:embeddedFont>
      <p:font typeface="Nadira Bold" charset="1" panose="00000700000000000000"/>
      <p:regular r:id="rId19"/>
    </p:embeddedFont>
    <p:embeddedFont>
      <p:font typeface="Autograph Bold" charset="1" panose="01000503000000020003"/>
      <p:regular r:id="rId20"/>
    </p:embeddedFont>
    <p:embeddedFont>
      <p:font typeface="Poppins Bold" charset="1" panose="00000800000000000000"/>
      <p:regular r:id="rId21"/>
    </p:embeddedFont>
    <p:embeddedFont>
      <p:font typeface="Anton" charset="1" panose="00000500000000000000"/>
      <p:regular r:id="rId22"/>
    </p:embeddedFont>
    <p:embeddedFont>
      <p:font typeface="TT Norms Bold" charset="1" panose="02000803030000020004"/>
      <p:regular r:id="rId23"/>
    </p:embeddedFont>
    <p:embeddedFont>
      <p:font typeface="Magnolia Script" charset="1" panose="02000503070000020003"/>
      <p:regular r:id="rId24"/>
    </p:embeddedFont>
    <p:embeddedFont>
      <p:font typeface="Canva Sans Bold" charset="1" panose="020B0803030501040103"/>
      <p:regular r:id="rId25"/>
    </p:embeddedFont>
    <p:embeddedFont>
      <p:font typeface="Times New Roman Bold" charset="1" panose="02020803070505020304"/>
      <p:regular r:id="rId26"/>
    </p:embeddedFont>
    <p:embeddedFont>
      <p:font typeface="Times New Roman" charset="1" panose="02020603050405020304"/>
      <p:regular r:id="rId27"/>
    </p:embeddedFont>
    <p:embeddedFont>
      <p:font typeface="Open Sauce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25196" y="621792"/>
            <a:ext cx="3161375" cy="1643915"/>
            <a:chOff x="0" y="0"/>
            <a:chExt cx="4215167" cy="2191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5130" cy="2191893"/>
            </a:xfrm>
            <a:custGeom>
              <a:avLst/>
              <a:gdLst/>
              <a:ahLst/>
              <a:cxnLst/>
              <a:rect r="r" b="b" t="t" l="l"/>
              <a:pathLst>
                <a:path h="2191893" w="4215130">
                  <a:moveTo>
                    <a:pt x="0" y="0"/>
                  </a:moveTo>
                  <a:lnTo>
                    <a:pt x="4215130" y="0"/>
                  </a:lnTo>
                  <a:lnTo>
                    <a:pt x="4215130" y="2191893"/>
                  </a:lnTo>
                  <a:lnTo>
                    <a:pt x="0" y="2191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061264" y="6755094"/>
            <a:ext cx="5744398" cy="364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02.</a:t>
            </a: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 Mosaddek Hossain Mehedi</a:t>
            </a:r>
          </a:p>
          <a:p>
            <a:pPr algn="l">
              <a:lnSpc>
                <a:spcPts val="3746"/>
              </a:lnSpc>
            </a:pP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17. Saiful Islam</a:t>
            </a:r>
          </a:p>
          <a:p>
            <a:pPr algn="l">
              <a:lnSpc>
                <a:spcPts val="3746"/>
              </a:lnSpc>
            </a:pP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21. Hasibul Hoque Probal</a:t>
            </a:r>
          </a:p>
          <a:p>
            <a:pPr algn="l">
              <a:lnSpc>
                <a:spcPts val="3746"/>
              </a:lnSpc>
            </a:pP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22. Mst. Sultana Yeasmin Suma</a:t>
            </a:r>
          </a:p>
          <a:p>
            <a:pPr algn="l">
              <a:lnSpc>
                <a:spcPts val="3746"/>
              </a:lnSpc>
            </a:pPr>
            <a:r>
              <a:rPr lang="en-US" sz="2497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40. Azizur Rahman Arzu</a:t>
            </a:r>
          </a:p>
          <a:p>
            <a:pPr algn="l">
              <a:lnSpc>
                <a:spcPts val="3496"/>
              </a:lnSpc>
            </a:pPr>
          </a:p>
          <a:p>
            <a:pPr algn="l">
              <a:lnSpc>
                <a:spcPts val="3497"/>
              </a:lnSpc>
            </a:pPr>
          </a:p>
          <a:p>
            <a:pPr algn="l">
              <a:lnSpc>
                <a:spcPts val="349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731436" y="2785957"/>
            <a:ext cx="2249612" cy="2926325"/>
          </a:xfrm>
          <a:custGeom>
            <a:avLst/>
            <a:gdLst/>
            <a:ahLst/>
            <a:cxnLst/>
            <a:rect r="r" b="b" t="t" l="l"/>
            <a:pathLst>
              <a:path h="2926325" w="2249612">
                <a:moveTo>
                  <a:pt x="0" y="0"/>
                </a:moveTo>
                <a:lnTo>
                  <a:pt x="2249612" y="0"/>
                </a:lnTo>
                <a:lnTo>
                  <a:pt x="2249612" y="2926325"/>
                </a:lnTo>
                <a:lnTo>
                  <a:pt x="0" y="292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1836" y="3363652"/>
            <a:ext cx="2942180" cy="2202957"/>
          </a:xfrm>
          <a:custGeom>
            <a:avLst/>
            <a:gdLst/>
            <a:ahLst/>
            <a:cxnLst/>
            <a:rect r="r" b="b" t="t" l="l"/>
            <a:pathLst>
              <a:path h="2202957" w="2942180">
                <a:moveTo>
                  <a:pt x="0" y="0"/>
                </a:moveTo>
                <a:lnTo>
                  <a:pt x="2942180" y="0"/>
                </a:lnTo>
                <a:lnTo>
                  <a:pt x="2942180" y="2202957"/>
                </a:lnTo>
                <a:lnTo>
                  <a:pt x="0" y="22029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311" y="9405020"/>
            <a:ext cx="17927378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"The best argument against democracy is a five-minute conversation with the average voter, but the best argument for it is that all the others are worse." 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WINSTON CHURCHILL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28249" y="3790572"/>
            <a:ext cx="12603186" cy="167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0"/>
              </a:lnSpc>
            </a:pPr>
          </a:p>
          <a:p>
            <a:pPr algn="ctr">
              <a:lnSpc>
                <a:spcPts val="7565"/>
              </a:lnSpc>
            </a:pPr>
            <a:r>
              <a:rPr lang="en-US" sz="8900" b="true">
                <a:solidFill>
                  <a:srgbClr val="083335"/>
                </a:solidFill>
                <a:latin typeface="Poppins Bold"/>
                <a:ea typeface="Poppins Bold"/>
                <a:cs typeface="Poppins Bold"/>
                <a:sym typeface="Poppins Bold"/>
              </a:rPr>
              <a:t>BALLOTE FREEDOM</a:t>
            </a:r>
          </a:p>
          <a:p>
            <a:pPr algn="ctr">
              <a:lnSpc>
                <a:spcPts val="1614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864831" y="3813630"/>
            <a:ext cx="11130023" cy="1752979"/>
          </a:xfrm>
          <a:custGeom>
            <a:avLst/>
            <a:gdLst/>
            <a:ahLst/>
            <a:cxnLst/>
            <a:rect r="r" b="b" t="t" l="l"/>
            <a:pathLst>
              <a:path h="1752979" w="11130023">
                <a:moveTo>
                  <a:pt x="0" y="0"/>
                </a:moveTo>
                <a:lnTo>
                  <a:pt x="11130023" y="0"/>
                </a:lnTo>
                <a:lnTo>
                  <a:pt x="11130023" y="1752979"/>
                </a:lnTo>
                <a:lnTo>
                  <a:pt x="0" y="17529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55" r="0" b="-35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2859" y="6771651"/>
            <a:ext cx="433053" cy="433053"/>
          </a:xfrm>
          <a:custGeom>
            <a:avLst/>
            <a:gdLst/>
            <a:ahLst/>
            <a:cxnLst/>
            <a:rect r="r" b="b" t="t" l="l"/>
            <a:pathLst>
              <a:path h="433053" w="433053">
                <a:moveTo>
                  <a:pt x="0" y="0"/>
                </a:moveTo>
                <a:lnTo>
                  <a:pt x="433053" y="0"/>
                </a:lnTo>
                <a:lnTo>
                  <a:pt x="433053" y="433053"/>
                </a:lnTo>
                <a:lnTo>
                  <a:pt x="0" y="433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2859" y="8648117"/>
            <a:ext cx="433053" cy="433053"/>
          </a:xfrm>
          <a:custGeom>
            <a:avLst/>
            <a:gdLst/>
            <a:ahLst/>
            <a:cxnLst/>
            <a:rect r="r" b="b" t="t" l="l"/>
            <a:pathLst>
              <a:path h="433053" w="433053">
                <a:moveTo>
                  <a:pt x="0" y="0"/>
                </a:moveTo>
                <a:lnTo>
                  <a:pt x="433053" y="0"/>
                </a:lnTo>
                <a:lnTo>
                  <a:pt x="433053" y="433053"/>
                </a:lnTo>
                <a:lnTo>
                  <a:pt x="0" y="433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43900" y="8160516"/>
            <a:ext cx="459026" cy="459025"/>
          </a:xfrm>
          <a:custGeom>
            <a:avLst/>
            <a:gdLst/>
            <a:ahLst/>
            <a:cxnLst/>
            <a:rect r="r" b="b" t="t" l="l"/>
            <a:pathLst>
              <a:path h="459025" w="459026">
                <a:moveTo>
                  <a:pt x="0" y="0"/>
                </a:moveTo>
                <a:lnTo>
                  <a:pt x="459026" y="0"/>
                </a:lnTo>
                <a:lnTo>
                  <a:pt x="459026" y="459026"/>
                </a:lnTo>
                <a:lnTo>
                  <a:pt x="0" y="4590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3900" y="5826582"/>
            <a:ext cx="3716005" cy="916494"/>
          </a:xfrm>
          <a:custGeom>
            <a:avLst/>
            <a:gdLst/>
            <a:ahLst/>
            <a:cxnLst/>
            <a:rect r="r" b="b" t="t" l="l"/>
            <a:pathLst>
              <a:path h="916494" w="3716005">
                <a:moveTo>
                  <a:pt x="0" y="0"/>
                </a:moveTo>
                <a:lnTo>
                  <a:pt x="3716005" y="0"/>
                </a:lnTo>
                <a:lnTo>
                  <a:pt x="3716005" y="916494"/>
                </a:lnTo>
                <a:lnTo>
                  <a:pt x="0" y="9164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478" r="0" b="-147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883122" y="5895763"/>
            <a:ext cx="2490254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  <a:spcBef>
                <a:spcPct val="0"/>
              </a:spcBef>
            </a:pPr>
            <a:r>
              <a:rPr lang="en-US" sz="2649">
                <a:solidFill>
                  <a:srgbClr val="FDFDFD"/>
                </a:solidFill>
                <a:latin typeface="Anton"/>
                <a:ea typeface="Anton"/>
                <a:cs typeface="Anton"/>
                <a:sym typeface="Anton"/>
              </a:rPr>
              <a:t>Presented By: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365174" y="6815507"/>
            <a:ext cx="6295097" cy="1832610"/>
            <a:chOff x="0" y="0"/>
            <a:chExt cx="8393463" cy="24434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7828" cy="1289789"/>
            </a:xfrm>
            <a:custGeom>
              <a:avLst/>
              <a:gdLst/>
              <a:ahLst/>
              <a:cxnLst/>
              <a:rect r="r" b="b" t="t" l="l"/>
              <a:pathLst>
                <a:path h="1289789" w="1267828">
                  <a:moveTo>
                    <a:pt x="0" y="0"/>
                  </a:moveTo>
                  <a:lnTo>
                    <a:pt x="1267828" y="0"/>
                  </a:lnTo>
                  <a:lnTo>
                    <a:pt x="1267828" y="1289789"/>
                  </a:lnTo>
                  <a:lnTo>
                    <a:pt x="0" y="1289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483728" y="-85725"/>
              <a:ext cx="6909736" cy="2529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2800">
                  <a:solidFill>
                    <a:srgbClr val="020C45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Antu Chowdhury</a:t>
              </a:r>
            </a:p>
            <a:p>
              <a:pPr algn="l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0C45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Lecturer</a:t>
              </a:r>
            </a:p>
            <a:p>
              <a:pPr algn="l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0C45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Department of CSE</a:t>
              </a:r>
            </a:p>
            <a:p>
              <a:pPr algn="l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20C45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Dhaka International University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82859" y="7237260"/>
            <a:ext cx="433053" cy="433053"/>
          </a:xfrm>
          <a:custGeom>
            <a:avLst/>
            <a:gdLst/>
            <a:ahLst/>
            <a:cxnLst/>
            <a:rect r="r" b="b" t="t" l="l"/>
            <a:pathLst>
              <a:path h="433053" w="433053">
                <a:moveTo>
                  <a:pt x="0" y="0"/>
                </a:moveTo>
                <a:lnTo>
                  <a:pt x="433053" y="0"/>
                </a:lnTo>
                <a:lnTo>
                  <a:pt x="433053" y="433053"/>
                </a:lnTo>
                <a:lnTo>
                  <a:pt x="0" y="433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469873" y="7698888"/>
            <a:ext cx="433053" cy="433053"/>
          </a:xfrm>
          <a:custGeom>
            <a:avLst/>
            <a:gdLst/>
            <a:ahLst/>
            <a:cxnLst/>
            <a:rect r="r" b="b" t="t" l="l"/>
            <a:pathLst>
              <a:path h="433053" w="433053">
                <a:moveTo>
                  <a:pt x="0" y="0"/>
                </a:moveTo>
                <a:lnTo>
                  <a:pt x="433053" y="0"/>
                </a:lnTo>
                <a:lnTo>
                  <a:pt x="433053" y="433053"/>
                </a:lnTo>
                <a:lnTo>
                  <a:pt x="0" y="43305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365174" y="5855157"/>
            <a:ext cx="3716005" cy="916494"/>
          </a:xfrm>
          <a:custGeom>
            <a:avLst/>
            <a:gdLst/>
            <a:ahLst/>
            <a:cxnLst/>
            <a:rect r="r" b="b" t="t" l="l"/>
            <a:pathLst>
              <a:path h="916494" w="3716005">
                <a:moveTo>
                  <a:pt x="0" y="0"/>
                </a:moveTo>
                <a:lnTo>
                  <a:pt x="3716005" y="0"/>
                </a:lnTo>
                <a:lnTo>
                  <a:pt x="3716005" y="916494"/>
                </a:lnTo>
                <a:lnTo>
                  <a:pt x="0" y="91649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478" r="0" b="-147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691445" y="5917690"/>
            <a:ext cx="2490254" cy="470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  <a:spcBef>
                <a:spcPct val="0"/>
              </a:spcBef>
            </a:pPr>
            <a:r>
              <a:rPr lang="en-US" sz="2649">
                <a:solidFill>
                  <a:srgbClr val="FDFDFD"/>
                </a:solidFill>
                <a:latin typeface="Anton"/>
                <a:ea typeface="Anton"/>
                <a:cs typeface="Anton"/>
                <a:sym typeface="Anton"/>
              </a:rPr>
              <a:t>Presented To: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7014263" y="0"/>
            <a:ext cx="1273737" cy="1557133"/>
          </a:xfrm>
          <a:custGeom>
            <a:avLst/>
            <a:gdLst/>
            <a:ahLst/>
            <a:cxnLst/>
            <a:rect r="r" b="b" t="t" l="l"/>
            <a:pathLst>
              <a:path h="1557133" w="1273737">
                <a:moveTo>
                  <a:pt x="0" y="0"/>
                </a:moveTo>
                <a:lnTo>
                  <a:pt x="1273737" y="0"/>
                </a:lnTo>
                <a:lnTo>
                  <a:pt x="1273737" y="1557133"/>
                </a:lnTo>
                <a:lnTo>
                  <a:pt x="0" y="155713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19587" t="0" r="-2661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167785" y="1715015"/>
            <a:ext cx="12524116" cy="2256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1"/>
              </a:lnSpc>
            </a:pPr>
          </a:p>
          <a:p>
            <a:pPr algn="ctr">
              <a:lnSpc>
                <a:spcPts val="3999"/>
              </a:lnSpc>
            </a:pPr>
            <a:r>
              <a:rPr lang="en-US" b="true" sz="3999">
                <a:solidFill>
                  <a:srgbClr val="020C45"/>
                </a:solidFill>
                <a:latin typeface="TT Norms Bold"/>
                <a:ea typeface="TT Norms Bold"/>
                <a:cs typeface="TT Norms Bold"/>
                <a:sym typeface="TT Norms Bold"/>
              </a:rPr>
              <a:t>STRUCTURED PROGRAMMING LANGUAGES LAB</a:t>
            </a:r>
          </a:p>
          <a:p>
            <a:pPr algn="ctr">
              <a:lnSpc>
                <a:spcPts val="3301"/>
              </a:lnSpc>
            </a:pPr>
            <a:r>
              <a:rPr lang="en-US" sz="3301">
                <a:solidFill>
                  <a:srgbClr val="000000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COURSE CODE: </a:t>
            </a:r>
            <a:r>
              <a:rPr lang="en-US" sz="3301">
                <a:solidFill>
                  <a:srgbClr val="000000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0613-102</a:t>
            </a:r>
          </a:p>
          <a:p>
            <a:pPr algn="ctr">
              <a:lnSpc>
                <a:spcPts val="420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78549" y="2192392"/>
            <a:ext cx="3711952" cy="3711952"/>
          </a:xfrm>
          <a:custGeom>
            <a:avLst/>
            <a:gdLst/>
            <a:ahLst/>
            <a:cxnLst/>
            <a:rect r="r" b="b" t="t" l="l"/>
            <a:pathLst>
              <a:path h="3711952" w="3711952">
                <a:moveTo>
                  <a:pt x="0" y="0"/>
                </a:moveTo>
                <a:lnTo>
                  <a:pt x="3711951" y="0"/>
                </a:lnTo>
                <a:lnTo>
                  <a:pt x="3711951" y="3711951"/>
                </a:lnTo>
                <a:lnTo>
                  <a:pt x="0" y="3711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39915"/>
            <a:ext cx="4548420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31374"/>
            <a:ext cx="12949849" cy="309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BALLOTE​‍​‌‍​‍‌ FREEDOM is a simple console based project of 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 programming that effectively provides a way to conduct elections that would be efficient, accountable, and transparent at a small scale by simulating a basic election ​‍​‌‍​‍‌process.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890962" y="8813800"/>
            <a:ext cx="1050607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Democracy is not just the right to vote, it is the right to live in dignity."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– NAOMI KLEIN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38705" y="543216"/>
            <a:ext cx="171093" cy="47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39915"/>
            <a:ext cx="3562819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127029" y="2545004"/>
            <a:ext cx="3317071" cy="3459788"/>
          </a:xfrm>
          <a:custGeom>
            <a:avLst/>
            <a:gdLst/>
            <a:ahLst/>
            <a:cxnLst/>
            <a:rect r="r" b="b" t="t" l="l"/>
            <a:pathLst>
              <a:path h="3459788" w="3317071">
                <a:moveTo>
                  <a:pt x="0" y="0"/>
                </a:moveTo>
                <a:lnTo>
                  <a:pt x="3317071" y="0"/>
                </a:lnTo>
                <a:lnTo>
                  <a:pt x="3317071" y="3459788"/>
                </a:lnTo>
                <a:lnTo>
                  <a:pt x="0" y="345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89748" y="8813800"/>
            <a:ext cx="8508504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"In a d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emocracy, the highest office is the office of citizen."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– FELIX FRANKFURTER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6484" y="2293216"/>
            <a:ext cx="12949849" cy="3711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Designing a simple &amp; interactive voting system.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Apply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 of functions, arrays, loops &amp; string in C.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Ensuring accurate vote counting &amp; result display without compromising transparency.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Implementing basic data validation &amp; decision-making logic.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39915"/>
            <a:ext cx="5441621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22810" y="8813800"/>
            <a:ext cx="14042380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"D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emocracy cannot succeed unless those who express their choice are prepared to choose wisely."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FRANKLIN D. ROOSEVELT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9739" y="2254762"/>
            <a:ext cx="12949849" cy="309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Insert &amp; save candidate names.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Cast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 votes for preferred candidate.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Showing total vote count.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Showing the leading candidate’s name.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Handling spoiled votes.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159876" y="2340487"/>
            <a:ext cx="7099424" cy="3415761"/>
          </a:xfrm>
          <a:custGeom>
            <a:avLst/>
            <a:gdLst/>
            <a:ahLst/>
            <a:cxnLst/>
            <a:rect r="r" b="b" t="t" l="l"/>
            <a:pathLst>
              <a:path h="3415761" w="7099424">
                <a:moveTo>
                  <a:pt x="0" y="0"/>
                </a:moveTo>
                <a:lnTo>
                  <a:pt x="7099424" y="0"/>
                </a:lnTo>
                <a:lnTo>
                  <a:pt x="7099424" y="3415761"/>
                </a:lnTo>
                <a:lnTo>
                  <a:pt x="0" y="3415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39915"/>
            <a:ext cx="6581222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PROGRA</a:t>
            </a: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 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85365" y="2336079"/>
            <a:ext cx="14972516" cy="185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Language: C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Programming 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Compiler: GCC / Code::Blocks / Dev-C++ / VS Code / Online Compiler 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Concepts: Loops, Functions, Arrays, Conditional Statements, String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474964" y="9029400"/>
            <a:ext cx="933807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"D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emocracy is not a spectator sport. It is a participatory event."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M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ARIAN WRIGHT EDELMAN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179480" y="3829643"/>
            <a:ext cx="3849821" cy="4031226"/>
          </a:xfrm>
          <a:custGeom>
            <a:avLst/>
            <a:gdLst/>
            <a:ahLst/>
            <a:cxnLst/>
            <a:rect r="r" b="b" t="t" l="l"/>
            <a:pathLst>
              <a:path h="4031226" w="3849821">
                <a:moveTo>
                  <a:pt x="0" y="0"/>
                </a:moveTo>
                <a:lnTo>
                  <a:pt x="3849821" y="0"/>
                </a:lnTo>
                <a:lnTo>
                  <a:pt x="3849821" y="4031226"/>
                </a:lnTo>
                <a:lnTo>
                  <a:pt x="0" y="4031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174" y="1955836"/>
            <a:ext cx="16675426" cy="265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Initializing candidates: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inputCandidates()​‍​‌‍​‍‌ is a function that collects and stores candidates information in a way that ensures the validity of the input and makes the program ready for the voting process by using temporary variables, conditional and loop ​‍​‌‍​‍‌statements.</a:t>
            </a:r>
          </a:p>
          <a:p>
            <a:pPr algn="just">
              <a:lnSpc>
                <a:spcPts val="4480"/>
              </a:lnSpc>
            </a:pPr>
          </a:p>
          <a:p>
            <a:pPr algn="just">
              <a:lnSpc>
                <a:spcPts val="308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12174" y="3827078"/>
            <a:ext cx="7101451" cy="5369922"/>
          </a:xfrm>
          <a:custGeom>
            <a:avLst/>
            <a:gdLst/>
            <a:ahLst/>
            <a:cxnLst/>
            <a:rect r="r" b="b" t="t" l="l"/>
            <a:pathLst>
              <a:path h="5369922" w="7101451">
                <a:moveTo>
                  <a:pt x="0" y="0"/>
                </a:moveTo>
                <a:lnTo>
                  <a:pt x="7101450" y="0"/>
                </a:lnTo>
                <a:lnTo>
                  <a:pt x="7101450" y="5369921"/>
                </a:lnTo>
                <a:lnTo>
                  <a:pt x="0" y="5369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6" t="0" r="-836" b="-866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9887" y="3827078"/>
            <a:ext cx="6956178" cy="3601571"/>
          </a:xfrm>
          <a:custGeom>
            <a:avLst/>
            <a:gdLst/>
            <a:ahLst/>
            <a:cxnLst/>
            <a:rect r="r" b="b" t="t" l="l"/>
            <a:pathLst>
              <a:path h="3601571" w="6956178">
                <a:moveTo>
                  <a:pt x="0" y="0"/>
                </a:moveTo>
                <a:lnTo>
                  <a:pt x="6956177" y="0"/>
                </a:lnTo>
                <a:lnTo>
                  <a:pt x="6956177" y="3601571"/>
                </a:lnTo>
                <a:lnTo>
                  <a:pt x="0" y="3601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2236" y="1073484"/>
            <a:ext cx="5325341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762899" y="9377974"/>
            <a:ext cx="1037942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"Th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e ignorance of one voter in a democracy impairs the security of all."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Joh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N F. KENNEDY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76466" y="2041561"/>
            <a:ext cx="552234" cy="533596"/>
          </a:xfrm>
          <a:custGeom>
            <a:avLst/>
            <a:gdLst/>
            <a:ahLst/>
            <a:cxnLst/>
            <a:rect r="r" b="b" t="t" l="l"/>
            <a:pathLst>
              <a:path h="533596" w="552234">
                <a:moveTo>
                  <a:pt x="0" y="0"/>
                </a:moveTo>
                <a:lnTo>
                  <a:pt x="552234" y="0"/>
                </a:lnTo>
                <a:lnTo>
                  <a:pt x="552234" y="533596"/>
                </a:lnTo>
                <a:lnTo>
                  <a:pt x="0" y="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54" r="0" b="-85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174" y="1955836"/>
            <a:ext cx="16675426" cy="2093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Vote cas</a:t>
            </a: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t: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castVote() lets the user to vote for the preffered candidate using getfunction, checks if the choice is valid using conditional statement &amp; updates either the candidate’s vote count or the spoiled vote count.</a:t>
            </a:r>
          </a:p>
          <a:p>
            <a:pPr algn="just">
              <a:lnSpc>
                <a:spcPts val="30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42236" y="1073484"/>
            <a:ext cx="5325341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FUNCTIONALITIES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6466" y="2041561"/>
            <a:ext cx="552234" cy="533596"/>
          </a:xfrm>
          <a:custGeom>
            <a:avLst/>
            <a:gdLst/>
            <a:ahLst/>
            <a:cxnLst/>
            <a:rect r="r" b="b" t="t" l="l"/>
            <a:pathLst>
              <a:path h="533596" w="552234">
                <a:moveTo>
                  <a:pt x="0" y="0"/>
                </a:moveTo>
                <a:lnTo>
                  <a:pt x="552234" y="0"/>
                </a:lnTo>
                <a:lnTo>
                  <a:pt x="552234" y="533596"/>
                </a:lnTo>
                <a:lnTo>
                  <a:pt x="0" y="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4" r="0" b="-85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84660" y="9227150"/>
            <a:ext cx="8730853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"B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ad officials are elected by good citizens who do not vote."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George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 JEAN NATHAN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12174" y="3759184"/>
            <a:ext cx="7210290" cy="5286990"/>
          </a:xfrm>
          <a:custGeom>
            <a:avLst/>
            <a:gdLst/>
            <a:ahLst/>
            <a:cxnLst/>
            <a:rect r="r" b="b" t="t" l="l"/>
            <a:pathLst>
              <a:path h="5286990" w="7210290">
                <a:moveTo>
                  <a:pt x="0" y="0"/>
                </a:moveTo>
                <a:lnTo>
                  <a:pt x="7210289" y="0"/>
                </a:lnTo>
                <a:lnTo>
                  <a:pt x="7210289" y="5286991"/>
                </a:lnTo>
                <a:lnTo>
                  <a:pt x="0" y="528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73" b="-2403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97088" y="3759184"/>
            <a:ext cx="5570701" cy="3874221"/>
          </a:xfrm>
          <a:custGeom>
            <a:avLst/>
            <a:gdLst/>
            <a:ahLst/>
            <a:cxnLst/>
            <a:rect r="r" b="b" t="t" l="l"/>
            <a:pathLst>
              <a:path h="3874221" w="5570701">
                <a:moveTo>
                  <a:pt x="0" y="0"/>
                </a:moveTo>
                <a:lnTo>
                  <a:pt x="5570700" y="0"/>
                </a:lnTo>
                <a:lnTo>
                  <a:pt x="5570700" y="3874221"/>
                </a:lnTo>
                <a:lnTo>
                  <a:pt x="0" y="38742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58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174" y="1955836"/>
            <a:ext cx="16675426" cy="2655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Displaying total vote coun</a:t>
            </a:r>
            <a:r>
              <a:rPr lang="en-US" sz="32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t: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voteCount()​‍​‌‍​‍‌ displays the election results by printing the count of each candidate's votes &amp; the number of spoiled votes through a Loop statement, thus it makes sure that the output is shown only after the candidates have been correctly ​‍​‌‍​‍‌initialized.</a:t>
            </a:r>
          </a:p>
          <a:p>
            <a:pPr algn="just">
              <a:lnSpc>
                <a:spcPts val="4480"/>
              </a:lnSpc>
            </a:pPr>
          </a:p>
          <a:p>
            <a:pPr algn="just">
              <a:lnSpc>
                <a:spcPts val="30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42236" y="1073484"/>
            <a:ext cx="5325341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FUNCTIONALITIES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6466" y="2041561"/>
            <a:ext cx="552234" cy="533596"/>
          </a:xfrm>
          <a:custGeom>
            <a:avLst/>
            <a:gdLst/>
            <a:ahLst/>
            <a:cxnLst/>
            <a:rect r="r" b="b" t="t" l="l"/>
            <a:pathLst>
              <a:path h="533596" w="552234">
                <a:moveTo>
                  <a:pt x="0" y="0"/>
                </a:moveTo>
                <a:lnTo>
                  <a:pt x="552234" y="0"/>
                </a:lnTo>
                <a:lnTo>
                  <a:pt x="552234" y="533596"/>
                </a:lnTo>
                <a:lnTo>
                  <a:pt x="0" y="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4" r="0" b="-85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231466" y="9439275"/>
            <a:ext cx="11037243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"Our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 lives begin to end the day we become silent about things that matter."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—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 Marti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N LUTHER KING JR.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12174" y="3882800"/>
            <a:ext cx="7876854" cy="3962540"/>
          </a:xfrm>
          <a:custGeom>
            <a:avLst/>
            <a:gdLst/>
            <a:ahLst/>
            <a:cxnLst/>
            <a:rect r="r" b="b" t="t" l="l"/>
            <a:pathLst>
              <a:path h="3962540" w="7876854">
                <a:moveTo>
                  <a:pt x="0" y="0"/>
                </a:moveTo>
                <a:lnTo>
                  <a:pt x="7876854" y="0"/>
                </a:lnTo>
                <a:lnTo>
                  <a:pt x="7876854" y="3962539"/>
                </a:lnTo>
                <a:lnTo>
                  <a:pt x="0" y="39625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2" t="0" r="-848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50087" y="3882800"/>
            <a:ext cx="6398636" cy="4435257"/>
          </a:xfrm>
          <a:custGeom>
            <a:avLst/>
            <a:gdLst/>
            <a:ahLst/>
            <a:cxnLst/>
            <a:rect r="r" b="b" t="t" l="l"/>
            <a:pathLst>
              <a:path h="4435257" w="6398636">
                <a:moveTo>
                  <a:pt x="0" y="0"/>
                </a:moveTo>
                <a:lnTo>
                  <a:pt x="6398636" y="0"/>
                </a:lnTo>
                <a:lnTo>
                  <a:pt x="6398636" y="4435257"/>
                </a:lnTo>
                <a:lnTo>
                  <a:pt x="0" y="44352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2174" y="1955836"/>
            <a:ext cx="16675426" cy="969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Displaying resul</a:t>
            </a: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t: 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getLeadingCandidate() determines the leading candidate.</a:t>
            </a:r>
          </a:p>
          <a:p>
            <a:pPr algn="just">
              <a:lnSpc>
                <a:spcPts val="308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42236" y="1073484"/>
            <a:ext cx="5325341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FUNCTIONALITIES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76466" y="2041561"/>
            <a:ext cx="552234" cy="533596"/>
          </a:xfrm>
          <a:custGeom>
            <a:avLst/>
            <a:gdLst/>
            <a:ahLst/>
            <a:cxnLst/>
            <a:rect r="r" b="b" t="t" l="l"/>
            <a:pathLst>
              <a:path h="533596" w="552234">
                <a:moveTo>
                  <a:pt x="0" y="0"/>
                </a:moveTo>
                <a:lnTo>
                  <a:pt x="552234" y="0"/>
                </a:lnTo>
                <a:lnTo>
                  <a:pt x="552234" y="533596"/>
                </a:lnTo>
                <a:lnTo>
                  <a:pt x="0" y="533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4" r="0" b="-85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925480"/>
            <a:ext cx="6768236" cy="4589258"/>
          </a:xfrm>
          <a:custGeom>
            <a:avLst/>
            <a:gdLst/>
            <a:ahLst/>
            <a:cxnLst/>
            <a:rect r="r" b="b" t="t" l="l"/>
            <a:pathLst>
              <a:path h="4589258" w="6768236">
                <a:moveTo>
                  <a:pt x="0" y="0"/>
                </a:moveTo>
                <a:lnTo>
                  <a:pt x="6768236" y="0"/>
                </a:lnTo>
                <a:lnTo>
                  <a:pt x="6768236" y="4589258"/>
                </a:lnTo>
                <a:lnTo>
                  <a:pt x="0" y="4589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3" t="-2807" r="-28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1061" y="9346153"/>
            <a:ext cx="1617955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"Democr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acy is the art &amp; science of mobilizing the entire physical, economic &amp; spiritual resources of the people."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Fr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ANKLIN D. ROOSEVELT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60111" y="2925480"/>
            <a:ext cx="6028826" cy="6239698"/>
          </a:xfrm>
          <a:custGeom>
            <a:avLst/>
            <a:gdLst/>
            <a:ahLst/>
            <a:cxnLst/>
            <a:rect r="r" b="b" t="t" l="l"/>
            <a:pathLst>
              <a:path h="6239698" w="6028826">
                <a:moveTo>
                  <a:pt x="0" y="0"/>
                </a:moveTo>
                <a:lnTo>
                  <a:pt x="6028826" y="0"/>
                </a:lnTo>
                <a:lnTo>
                  <a:pt x="6028826" y="6239698"/>
                </a:lnTo>
                <a:lnTo>
                  <a:pt x="0" y="62396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2669" b="-2905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09115"/>
            <a:ext cx="7043223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558229" y="2421804"/>
            <a:ext cx="3317071" cy="3459788"/>
          </a:xfrm>
          <a:custGeom>
            <a:avLst/>
            <a:gdLst/>
            <a:ahLst/>
            <a:cxnLst/>
            <a:rect r="r" b="b" t="t" l="l"/>
            <a:pathLst>
              <a:path h="3459788" w="3317071">
                <a:moveTo>
                  <a:pt x="0" y="0"/>
                </a:moveTo>
                <a:lnTo>
                  <a:pt x="3317072" y="0"/>
                </a:lnTo>
                <a:lnTo>
                  <a:pt x="3317072" y="3459788"/>
                </a:lnTo>
                <a:lnTo>
                  <a:pt x="0" y="3459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78972" y="9220200"/>
            <a:ext cx="5930057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"Tomorrow depends on today’s decision.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John D. Rockefeller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5365" y="2336079"/>
            <a:ext cx="14972516" cy="2473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Preventing duplicate candidate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names.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Saving the result as a text file.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 voting percentages of candidate &amp; spoiled votes.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Reset all processes &amp; restart the voting procedure from the begaining.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838705" y="543216"/>
            <a:ext cx="171093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09115"/>
            <a:ext cx="3932420" cy="75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 u="sng">
                <a:solidFill>
                  <a:srgbClr val="08333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13793" y="9220200"/>
            <a:ext cx="14260413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"Democr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acy thrives when people are willing to stand up for what is right, even when it’s not easy."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H.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 L. MENCKEN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1571" y="2935287"/>
            <a:ext cx="17324858" cy="433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BALLOTE FREDOM is a simple voting system developed using C Programming.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efficiently handles candidate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registration, vote casting &amp; result calculation using basic programming constructs such as arrays, functions &amp; conditional statements.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 system demonstrates practical implementation of data handling along with user interaction in C.</a:t>
            </a:r>
          </a:p>
          <a:p>
            <a:pPr algn="l" marL="755641" indent="-377820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</a:t>
            </a:r>
            <a:r>
              <a:rPr lang="en-US" b="true" sz="34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 development stages could feature adding data storage, user authentication and a graphical interface for better ​‍​‌‍​‍‌functionality.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488780" y="326714"/>
            <a:ext cx="1028700" cy="792384"/>
          </a:xfrm>
          <a:custGeom>
            <a:avLst/>
            <a:gdLst/>
            <a:ahLst/>
            <a:cxnLst/>
            <a:rect r="r" b="b" t="t" l="l"/>
            <a:pathLst>
              <a:path h="792384" w="1028700">
                <a:moveTo>
                  <a:pt x="0" y="0"/>
                </a:moveTo>
                <a:lnTo>
                  <a:pt x="1028700" y="0"/>
                </a:lnTo>
                <a:lnTo>
                  <a:pt x="1028700" y="792384"/>
                </a:lnTo>
                <a:lnTo>
                  <a:pt x="0" y="7923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581782" y="598246"/>
            <a:ext cx="706218" cy="43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9"/>
              </a:lnSpc>
            </a:pPr>
            <a:r>
              <a:rPr lang="en-US" sz="255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6391" y="1962150"/>
            <a:ext cx="10855218" cy="6396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55"/>
              </a:lnSpc>
            </a:pPr>
            <a:r>
              <a:rPr lang="en-US" b="true" sz="28182">
                <a:solidFill>
                  <a:srgbClr val="08333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18396" y="9220200"/>
            <a:ext cx="12051209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"Le</a:t>
            </a:r>
            <a:r>
              <a:rPr lang="en-US" b="true" sz="2499">
                <a:solidFill>
                  <a:srgbClr val="083335"/>
                </a:solidFill>
                <a:latin typeface="Nadira Bold"/>
                <a:ea typeface="Nadira Bold"/>
                <a:cs typeface="Nadira Bold"/>
                <a:sym typeface="Nadira Bold"/>
              </a:rPr>
              <a:t>t us remind ourselves that our freedom is incomplete without the right to vote."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- Nelson</a:t>
            </a:r>
            <a:r>
              <a:rPr lang="en-US" b="true" sz="2499">
                <a:solidFill>
                  <a:srgbClr val="083335"/>
                </a:solidFill>
                <a:latin typeface="Autograph Bold"/>
                <a:ea typeface="Autograph Bold"/>
                <a:cs typeface="Autograph Bold"/>
                <a:sym typeface="Autograph Bold"/>
              </a:rPr>
              <a:t> MANDELA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DAG2rG-gRHA</dc:identifier>
  <dcterms:modified xsi:type="dcterms:W3CDTF">2011-08-01T06:04:30Z</dcterms:modified>
  <cp:revision>1</cp:revision>
  <dc:title>Project BALLOTE FREEDOM Presentation</dc:title>
</cp:coreProperties>
</file>